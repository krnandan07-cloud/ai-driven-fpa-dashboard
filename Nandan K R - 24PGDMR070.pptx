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13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lang="en-US" sz="1400" b="0" i="0" u="none" strike="noStrike">
                <a:solidFill>
                  <a:srgbClr val="1E2761"/>
                </a:solidFill>
                <a:latin typeface="Cambria"/>
              </a:rPr>
              <a:t>Revenue CAGR by Company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CAGR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L&amp;T</c:v>
                </c:pt>
                <c:pt idx="1">
                  <c:v>NCC Ltd</c:v>
                </c:pt>
                <c:pt idx="2">
                  <c:v>KNR Constr.</c:v>
                </c:pt>
                <c:pt idx="3">
                  <c:v>IRB Infra</c:v>
                </c:pt>
                <c:pt idx="4">
                  <c:v>HG Infra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12.09</c:v>
                </c:pt>
                <c:pt idx="1">
                  <c:v>17.2</c:v>
                </c:pt>
                <c:pt idx="2">
                  <c:v>14.95</c:v>
                </c:pt>
                <c:pt idx="3">
                  <c:v>10.76</c:v>
                </c:pt>
                <c:pt idx="4">
                  <c:v>14.65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FF-48B8-A08A-2CE5BAEB74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4E4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score (/10)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Dashboard-
building
confidence</c:v>
                </c:pt>
                <c:pt idx="1">
                  <c:v>MIS/variance
reporting
confidence</c:v>
                </c:pt>
                <c:pt idx="2">
                  <c:v>Importance of
BI skills for
careers</c:v>
                </c:pt>
                <c:pt idx="3">
                  <c:v>Perceived PGDM
preparation for
BI-driven roles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5.93</c:v>
                </c:pt>
                <c:pt idx="1">
                  <c:v>5.62</c:v>
                </c:pt>
                <c:pt idx="2">
                  <c:v>5.89</c:v>
                </c:pt>
                <c:pt idx="3">
                  <c:v>5.45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E2-4091-A837-67DD6EB5A8E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6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9525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0130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82880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846320"/>
            <a:ext cx="4023360" cy="402336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6" name="Text 4"/>
          <p:cNvSpPr/>
          <p:nvPr/>
        </p:nvSpPr>
        <p:spPr>
          <a:xfrm>
            <a:off x="991636" y="1587416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STUDY OF AI-DRIVEN FINANCIAL PLANNING &amp; ANALYSIS (FP&amp;A) FOR STRATEGIC DECISION</a:t>
            </a:r>
          </a:p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MAKING IN INSIGHT CAPITAL ADVISORY PVT.LTD.,</a:t>
            </a:r>
            <a:endParaRPr lang="en-US" sz="3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91636" y="3416216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Budgeting, Forecasting, Variance Analysis and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Reporting Framework — Insight Capital Advisory Pvt. Ltd., Bengaluru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91636" y="4376336"/>
            <a:ext cx="2926080" cy="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1636" y="460493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Nandan K R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No: 24PGDMR070</a:t>
            </a:r>
            <a:endParaRPr lang="en-US" sz="1600" b="1" dirty="0"/>
          </a:p>
        </p:txBody>
      </p:sp>
      <p:sp>
        <p:nvSpPr>
          <p:cNvPr id="10" name="Text 8"/>
          <p:cNvSpPr/>
          <p:nvPr/>
        </p:nvSpPr>
        <p:spPr>
          <a:xfrm>
            <a:off x="991636" y="499812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Bhagyamma V, Assistant Professor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ABBS School of Management, Bengaluru   •   Batch 2024–26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FP&amp;A + AI + BI, and what this study set out to 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989320" cy="4709160"/>
          </a:xfrm>
          <a:prstGeom prst="rect">
            <a:avLst/>
          </a:prstGeom>
          <a:solidFill>
            <a:srgbClr val="EAF1F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has evolved from routine reporting into a strategic</a:t>
            </a:r>
            <a:endParaRPr lang="en-US" sz="14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partner — combining budgeting, forecasting,</a:t>
            </a:r>
            <a:endParaRPr lang="en-US" sz="14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analysis, and executive reporting into a single,</a:t>
            </a:r>
            <a:endParaRPr lang="en-US" sz="14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decision-support process.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5394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develops an AI-driven FP&amp;A Dashboard that unifies</a:t>
            </a:r>
            <a:endParaRPr lang="en-US" sz="14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functions into one Business Intelligence platform,</a:t>
            </a:r>
            <a:endParaRPr lang="en-US" sz="14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a live internship at Insight Capital Advisory</a:t>
            </a:r>
            <a:endParaRPr lang="en-US" sz="14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Pvt. Ltd. — a SEBI-registered Investment Adviser in Bengaluru.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507492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focus: 5 NSE/BSE-listed Infrastructure &amp; Construction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— L&amp;T, NCC, KNR Constructions, IRB Infrastructure,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 Infra Engineering.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903720" y="1600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903720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635240" y="15727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635240" y="1929384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 budgeting, forecasting, variance analysis &amp; reporting in one framework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03720" y="27706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903720" y="27706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635240" y="2743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635240" y="3099816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driver-based model, cross-checked with AI-assisted forecasting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394106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39410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635240" y="39136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635240" y="427024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KPI dashboards for real-time, executive decision-making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03720" y="51114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51114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635240" y="508406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635240" y="544068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PGDM students' BI/analytics readiness for FP&amp;A careers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Design &amp; 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Descriptive-cum-applied design combining secondary and primary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3429000"/>
          </a:xfrm>
          <a:prstGeom prst="rect">
            <a:avLst/>
          </a:prstGeom>
          <a:solidFill>
            <a:srgbClr val="EAF1F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3611880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74520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Secondary Data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04672" y="2450592"/>
            <a:ext cx="3099816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NSE/BSE Infra &amp; Construction companies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FY2020-21 to FY2025-26 historical (Screener.in)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Driver-based growth-rate model in Excel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extended to FY2030-31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3611880" cy="3429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0" y="1600200"/>
            <a:ext cx="3611880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4645152" y="1874520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Cross-Check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645152" y="2450592"/>
            <a:ext cx="3099816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forecasting library in R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readxl / dplyr / ggplot2 pipeline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driver-based projections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vs. historical trend baseline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1600200"/>
            <a:ext cx="3611880" cy="3429000"/>
          </a:xfrm>
          <a:prstGeom prst="rect">
            <a:avLst/>
          </a:prstGeom>
          <a:solidFill>
            <a:srgbClr val="EAF1F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0" y="1600200"/>
            <a:ext cx="3611880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8485632" y="1874520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Data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485632" y="2450592"/>
            <a:ext cx="3099816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survey of 113 PGDM students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Excel, BI tools, dashboarding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MIS/variance reporting confidence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relevance &amp; curriculum readiness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11064240" cy="96012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25780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delivery: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Chart.js-based HTML dashboard consolidating budgeting, forecasting, variance and KPI views — purposive sampling used throughout.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Data Analysis — Five-Year Trends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CAGR (FY2020-21 to FY2025-26) across the sample companies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67208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498080" y="160020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trend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498080" y="211226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0" y="1984248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 Ltd posts the fastest historical Revenue CAGR (17.2%) in the sample; IRB Infrastructure the slowest (10.8%).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498080" y="313639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0" y="3008376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margins improve broadly and Debt-Equity ratios decline across all five companies over the period.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498080" y="416052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0" y="4032504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IRB Infrastructure remains comparatively more leveraged (D/E 1.22 in FY2025-26) despite the deleveraging trend.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498080" y="518464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0" y="5056632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L&amp;T retains the largest absolute revenue scale even as smaller peers grow faster in percentage terms.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Driver-Based Forecast to FY2030-31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revenue scale-up, cross-checked with AI-assisted (Prophet) forecasting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03120" cy="201168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810512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L&amp;T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58368" y="221284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FY25-26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2450592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₹2,61,900 Cr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58368" y="2871216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FY30-31 (fcst.)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3108960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₹4,63,415 Cr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2871216" y="1691640"/>
            <a:ext cx="2103120" cy="201168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11" name="Text 9"/>
          <p:cNvSpPr/>
          <p:nvPr/>
        </p:nvSpPr>
        <p:spPr>
          <a:xfrm>
            <a:off x="2980944" y="1810512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NCC Ltd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980944" y="221284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FY25-26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80944" y="2450592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₹19,680 Cr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2980944" y="2871216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FY30-31 (fcst.)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80944" y="3108960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₹43,517 Cr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193792" y="1691640"/>
            <a:ext cx="2103120" cy="201168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1810512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KNR Constr.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303520" y="221284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FY25-26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0" y="2450592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₹6,120 Cr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303520" y="2871216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FY30-31 (fcst.)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0" y="3108960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₹12,283 Cr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516368" y="1691640"/>
            <a:ext cx="2103120" cy="201168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23" name="Text 21"/>
          <p:cNvSpPr/>
          <p:nvPr/>
        </p:nvSpPr>
        <p:spPr>
          <a:xfrm>
            <a:off x="7626096" y="1810512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IRB Infra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626096" y="221284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FY25-26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26096" y="2450592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₹10,750 Cr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626096" y="2871216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FY30-31 (fcst.)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26096" y="3108960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₹17,919 Cr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9838944" y="1691640"/>
            <a:ext cx="2103120" cy="201168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29" name="Text 27"/>
          <p:cNvSpPr/>
          <p:nvPr/>
        </p:nvSpPr>
        <p:spPr>
          <a:xfrm>
            <a:off x="9948672" y="1810512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HG Infra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948672" y="221284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FY25-26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948672" y="2450592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₹8,160 Cr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9948672" y="2871216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FY30-31 (fcst.)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948672" y="3108960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₹16,164 Cr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548640" y="3977640"/>
            <a:ext cx="11064240" cy="2240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takeaways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68680" y="4654296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7" name="Text 35"/>
          <p:cNvSpPr/>
          <p:nvPr/>
        </p:nvSpPr>
        <p:spPr>
          <a:xfrm>
            <a:off x="1115568" y="452628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driver-based projection continues each company's historical scale hierarchy — L&amp;T stays largest, NCC compounds fastest — through FY2030-31.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68680" y="5221224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9" name="Text 37"/>
          <p:cNvSpPr/>
          <p:nvPr/>
        </p:nvSpPr>
        <p:spPr>
          <a:xfrm>
            <a:off x="1115568" y="509320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PAT and EPS are all projected to keep growing, with the Prophet AI cross-check broadly corroborating the driver-based trajectory.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68680" y="5788152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1" name="Text 39"/>
          <p:cNvSpPr/>
          <p:nvPr/>
        </p:nvSpPr>
        <p:spPr>
          <a:xfrm>
            <a:off x="1115568" y="566013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outputs feed directly into the dashboard's variance-analysis and KPI-monitoring views for ongoing tracking.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Survey — PGDM Readiness for BI-Driven FP&amp;A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survey of 113 PGDM students — mean scores on a 0–10 scale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640080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360920" y="16002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numbers say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60920" y="215798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4"/>
          <p:cNvSpPr/>
          <p:nvPr/>
        </p:nvSpPr>
        <p:spPr>
          <a:xfrm>
            <a:off x="7635240" y="201168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proficiency is comparatively strong, but BI-tool exposure (Power BI, Tableau) and hands-on FP&amp;A experience remain uneven.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360920" y="332841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6"/>
          <p:cNvSpPr/>
          <p:nvPr/>
        </p:nvSpPr>
        <p:spPr>
          <a:xfrm>
            <a:off x="7635240" y="3182112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gap: students rate BI skills as important (5.89) more highly than they rate their program's preparation for it (5.45).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360920" y="449884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8"/>
          <p:cNvSpPr/>
          <p:nvPr/>
        </p:nvSpPr>
        <p:spPr>
          <a:xfrm>
            <a:off x="7635240" y="4352544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Dashboard-building confidence (5.93) edges ahead of MIS/variance-reporting confidence (5.62) — both mid-range, with room to grow.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572000"/>
            <a:ext cx="4114800" cy="41148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Recommendations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AI-driven FP&amp;A dashboard supports — not replaces — managerial judgement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123444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AI-driven FP&amp;A Dashboard functions as a Decision Support System — consolidating financial data, forecasts, KPIs and variances into one structured environment. Its value depends on data quality, governance, sound forecasting assumptions, continuous validation, and user capability.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611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59359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integration of FP&amp;A and BI skills within the PGDM curriculum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14223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142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412394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practical, real-world financial datasets for hands-on learning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672584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72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4654296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hands-on dashboard-building training (Power BI, Tableau, Excel)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202936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02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518464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scenario-based planning exercises into coursework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733288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733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57150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responsible, validated use of AI in financial forecasting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6263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839</Words>
  <Application>Microsoft Office PowerPoint</Application>
  <PresentationFormat>Widescreen</PresentationFormat>
  <Paragraphs>122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Nandan K R</cp:lastModifiedBy>
  <cp:revision>2</cp:revision>
  <dcterms:created xsi:type="dcterms:W3CDTF">2026-09-09T02:20:56Z</dcterms:created>
  <dcterms:modified xsi:type="dcterms:W3CDTF">2026-09-09T02:27:08Z</dcterms:modified>
</cp:coreProperties>
</file>